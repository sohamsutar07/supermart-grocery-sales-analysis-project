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  <p:sldId id="271" r:id="rId9"/>
    <p:sldId id="272" r:id="rId10"/>
    <p:sldId id="273" r:id="rId11"/>
    <p:sldId id="274" r:id="rId12"/>
    <p:sldId id="275" r:id="rId13"/>
    <p:sldId id="261" r:id="rId14"/>
    <p:sldId id="268" r:id="rId15"/>
    <p:sldId id="269" r:id="rId16"/>
    <p:sldId id="270" r:id="rId17"/>
    <p:sldId id="262" r:id="rId18"/>
    <p:sldId id="263" r:id="rId19"/>
    <p:sldId id="264" r:id="rId20"/>
    <p:sldId id="26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77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1A3260">
              <a:alpha val="70000"/>
            </a:srgbClr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286000"/>
            <a:ext cx="2286000" cy="2286000"/>
          </a:xfrm>
          <a:prstGeom prst="ellipse">
            <a:avLst/>
          </a:prstGeom>
          <a:solidFill>
            <a:srgbClr val="2563A8">
              <a:alpha val="60000"/>
            </a:srgbClr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2926080"/>
            <a:ext cx="1645920" cy="1645920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22960"/>
            <a:ext cx="2926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22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ANALYTICS PROJECT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Supermart Grocery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5029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Tools Used: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100584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29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Excel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45920" y="3429000"/>
            <a:ext cx="1005840" cy="2926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3429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3429000"/>
            <a:ext cx="10058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3429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23360" y="3429000"/>
            <a:ext cx="1005840" cy="2926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3429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Soham Sutar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March 2026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91440" cy="14630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260"/>
                </a:solidFill>
              </a:rPr>
              <a:t>Role of Data Analytics in Retail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Data analytics empowers retail businesses to make informed decisions. By analyzing sales patterns, customer behavior, and inventory data, retailers can optimize pricing, plan promotions, and improve supply chain efficiency.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114300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143000"/>
            <a:ext cx="9144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260"/>
                </a:solidFill>
              </a:rPr>
              <a:t>Dataset Overview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536192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The Supermart grocery sales dataset contains detailed transactional records including order details, customer information, product categories, regions, sales figures, discounts, and profit 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8503920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7432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DATA FIELDS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108960"/>
            <a:ext cx="2834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08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▸  Order 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54680" y="3108960"/>
            <a:ext cx="28346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3108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▸  Order Date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3108960"/>
            <a:ext cx="2834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3108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▸  Customer Name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28346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564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▸  Region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54680" y="3456432"/>
            <a:ext cx="2834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34564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▸  Category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9320" y="3456432"/>
            <a:ext cx="28346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34564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▸  Sub-Category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803904"/>
            <a:ext cx="2834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803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▸  Sales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54680" y="3803904"/>
            <a:ext cx="28346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3803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▸  Profit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89320" y="3803904"/>
            <a:ext cx="2834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3803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▸  Discount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480560"/>
            <a:ext cx="8503920" cy="438912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48056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🎯  OBJECTIVE:  Analyze sales performance, category trends, and regional insights to support data-driven business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 Statement &amp; Business Questions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8503920" cy="731520"/>
          </a:xfrm>
          <a:prstGeom prst="rect">
            <a:avLst/>
          </a:prstGeom>
          <a:solidFill>
            <a:srgbClr val="2563A8">
              <a:alpha val="90000"/>
            </a:srgbClr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Supermart requires a comprehensive analysis of its grocery sales data to identify performance gaps, understand customer behavior, and uncover growth opportunities across regions and product categories.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9659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260"/>
                </a:solidFill>
              </a:rPr>
              <a:t>Business Questions to Answer: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377440"/>
            <a:ext cx="85039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77440"/>
            <a:ext cx="438912" cy="43891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377440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Q1.  What are the monthly sales trends?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898648"/>
            <a:ext cx="85039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98648"/>
            <a:ext cx="43891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898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289864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Q2.  Which categories generate the highest revenue?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419856"/>
            <a:ext cx="85039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419856"/>
            <a:ext cx="438912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19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3419856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Q3.  How do different regions perform in terms of sales?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" y="3941064"/>
            <a:ext cx="85039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941064"/>
            <a:ext cx="438912" cy="43891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941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3941064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Q4.  Who are the top customers?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" y="4462272"/>
            <a:ext cx="85039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462272"/>
            <a:ext cx="43891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462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" y="446227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Q5.  What is the overall profit margin?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Cleaning using Excel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97280"/>
            <a:ext cx="28346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5029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260"/>
                </a:solidFill>
              </a:rPr>
              <a:t>Import &amp; Delimiter Fix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Imported CSV and resolved delimiter issues using Text to Columns wizard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8346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5029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1143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260"/>
                </a:solidFill>
              </a:rPr>
              <a:t>Remove Duplicates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46120" y="1554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Used Remove Duplicates feature to eliminate redundant rows from the dataset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097280"/>
            <a:ext cx="28346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97280"/>
            <a:ext cx="5029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1143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260"/>
                </a:solidFill>
              </a:rPr>
              <a:t>Handle Missing Values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1554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Identified and handled null values in Order Date, Sales, and Category columns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2606040"/>
            <a:ext cx="28346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606040"/>
            <a:ext cx="5029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606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260"/>
                </a:solidFill>
              </a:rPr>
              <a:t>Fix Date Formats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" y="30632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Standardized inconsistent date formats using Text to Columns + DATEVALUE()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54680" y="2606040"/>
            <a:ext cx="28346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606040"/>
            <a:ext cx="5029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2606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0332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260"/>
                </a:solidFill>
              </a:rPr>
              <a:t>Create Date Columns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46120" y="30632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Added Month and Year columns using TEXT() and YEAR() formulas for grouping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2606040"/>
            <a:ext cx="28346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2606040"/>
            <a:ext cx="5029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2606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2940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260"/>
                </a:solidFill>
              </a:rPr>
              <a:t>Validate with Pivot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72200" y="30632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Validated data accuracy via Pivot Table to check monthly sales trends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D6EB33-AA89-9212-A8C6-FF6CF76B1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4249"/>
            <a:ext cx="9144000" cy="425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051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59BB1E-637F-E6B3-1B23-6B4EEC732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5044"/>
            <a:ext cx="9144000" cy="3694786"/>
          </a:xfrm>
          <a:prstGeom prst="rect">
            <a:avLst/>
          </a:prstGeom>
        </p:spPr>
      </p:pic>
      <p:sp>
        <p:nvSpPr>
          <p:cNvPr id="4" name="Shape 32">
            <a:extLst>
              <a:ext uri="{FF2B5EF4-FFF2-40B4-BE49-F238E27FC236}">
                <a16:creationId xmlns:a16="http://schemas.microsoft.com/office/drawing/2014/main" id="{62FCFAD0-1ACF-698E-D63A-759409D9EBC9}"/>
              </a:ext>
            </a:extLst>
          </p:cNvPr>
          <p:cNvSpPr/>
          <p:nvPr/>
        </p:nvSpPr>
        <p:spPr>
          <a:xfrm>
            <a:off x="275064" y="310376"/>
            <a:ext cx="1719072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01E7B-5571-6E32-C844-FB429A114262}"/>
              </a:ext>
            </a:extLst>
          </p:cNvPr>
          <p:cNvSpPr txBox="1"/>
          <p:nvPr/>
        </p:nvSpPr>
        <p:spPr>
          <a:xfrm>
            <a:off x="-1349298" y="261569"/>
            <a:ext cx="4601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Pivot table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0121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Analysis using 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7899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2743200" cy="34747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Sales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" y="1481328"/>
            <a:ext cx="2596896" cy="12618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536192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SUM(Sales) AS Total_Sales FROM supermart;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07899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78992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Category-wise Sales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27832" y="1481328"/>
            <a:ext cx="2596896" cy="12618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536192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Category, SUM(Sales) AS Sales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supermart GROUP BY Category;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107899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78992"/>
            <a:ext cx="27432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Region-wise Sales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53912" y="1481328"/>
            <a:ext cx="2596896" cy="12618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1536192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Region, SUM(Sales) AS Sales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supermart GROUP BY Region;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91640" y="30175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91640" y="3017520"/>
            <a:ext cx="274320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3017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5 Customers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64792" y="3419856"/>
            <a:ext cx="2596896" cy="12618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01368" y="347472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Customer_Name, SUM(Sales) AS Sales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supermart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Sales DESC LIMIT 5;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30175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017520"/>
            <a:ext cx="2743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017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Profit Analysis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90872" y="3419856"/>
            <a:ext cx="2596896" cy="12618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347472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SUM(Profit) AS Total_Profit,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ROUND(AVG(Profit), 2) AS Avg_Profit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supermart;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4645152"/>
            <a:ext cx="8686800" cy="329184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64515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2400E"/>
                </a:solidFill>
              </a:rPr>
              <a:t>📌  Screenshot Placeholder — SQL Query Results (Add screenshots of query outputs from MySQL / PostgreSQL / SQLite here)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FB3143-141F-8EE6-2D72-0720A3950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80" y="630868"/>
            <a:ext cx="8891239" cy="411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19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CF58B6-DC37-40E1-0A7A-F4535D271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0" y="464549"/>
            <a:ext cx="8556702" cy="443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326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33462F-1C85-0278-8A29-6E5664F30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24"/>
            <a:ext cx="9144000" cy="464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38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781C2D-D9E4-3EE5-104E-C9457056D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771"/>
            <a:ext cx="9047356" cy="455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851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E66F27-79F8-3CD3-BD53-261B0CFDC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918"/>
            <a:ext cx="9010185" cy="443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313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Exploratory Data Analysis using Python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78992"/>
            <a:ext cx="3200400" cy="27432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LIBRARIES USED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 Pandas — Data manipulation &amp; aggregation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700784"/>
            <a:ext cx="320040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0078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 Matplotlib — Chart creation &amp; styling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048256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482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 Seaborn — Statistical visualizations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395728"/>
            <a:ext cx="320040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957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 NumPy — Numerical computations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1005840"/>
            <a:ext cx="1719072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0" y="1005840"/>
            <a:ext cx="1719072" cy="3200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10058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📈 Line Chart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21608" y="1389888"/>
            <a:ext cx="1591056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21608" y="1389888"/>
            <a:ext cx="159105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📌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Chart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Screenshot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2395728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Monthly Sales Trend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0" y="1005840"/>
            <a:ext cx="1719072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1005840"/>
            <a:ext cx="171907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0058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📊 Bar Chart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50408" y="1389888"/>
            <a:ext cx="1591056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0408" y="1389888"/>
            <a:ext cx="159105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📌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Chart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Screenshot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2395728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Category-wise Sales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0" y="1005840"/>
            <a:ext cx="1719072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0" y="1005840"/>
            <a:ext cx="1719072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10058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📊 Bar Chart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79208" y="1389888"/>
            <a:ext cx="1591056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79208" y="1389888"/>
            <a:ext cx="159105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📌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Chart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Screenshot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0" y="2395728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Region-wise Sales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0" y="2971800"/>
            <a:ext cx="1719072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0" y="2971800"/>
            <a:ext cx="1719072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29718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📉 Histogram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21608" y="3355848"/>
            <a:ext cx="1591056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21608" y="3355848"/>
            <a:ext cx="159105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📌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Chart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Screenshot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0" y="4361688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Sales Distribution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0" y="2971800"/>
            <a:ext cx="1719072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86400" y="2971800"/>
            <a:ext cx="1719072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29718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⬡ Scatter Plot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50408" y="3355848"/>
            <a:ext cx="1591056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50408" y="3355848"/>
            <a:ext cx="159105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📌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Chart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Screenshot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0" y="4361688"/>
            <a:ext cx="1719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Profit vs Sales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4">
            <a:extLst>
              <a:ext uri="{FF2B5EF4-FFF2-40B4-BE49-F238E27FC236}">
                <a16:creationId xmlns:a16="http://schemas.microsoft.com/office/drawing/2014/main" id="{BCE9572F-79EC-F75B-7E9F-DDA9D55E5DF2}"/>
              </a:ext>
            </a:extLst>
          </p:cNvPr>
          <p:cNvSpPr/>
          <p:nvPr/>
        </p:nvSpPr>
        <p:spPr>
          <a:xfrm>
            <a:off x="118946" y="188084"/>
            <a:ext cx="2646556" cy="3200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AB415A-4F45-9DDF-5311-EE1A09E0E43C}"/>
              </a:ext>
            </a:extLst>
          </p:cNvPr>
          <p:cNvSpPr txBox="1"/>
          <p:nvPr/>
        </p:nvSpPr>
        <p:spPr>
          <a:xfrm>
            <a:off x="-221166" y="138792"/>
            <a:ext cx="3326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Monthly Sales Trend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2BC2D5-9AEB-5026-DE6E-DC3747587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6748"/>
            <a:ext cx="3734499" cy="3063013"/>
          </a:xfrm>
          <a:prstGeom prst="rect">
            <a:avLst/>
          </a:prstGeom>
        </p:spPr>
      </p:pic>
      <p:sp>
        <p:nvSpPr>
          <p:cNvPr id="8" name="Shape 20">
            <a:extLst>
              <a:ext uri="{FF2B5EF4-FFF2-40B4-BE49-F238E27FC236}">
                <a16:creationId xmlns:a16="http://schemas.microsoft.com/office/drawing/2014/main" id="{A8A9123D-0241-D318-36A5-5E62FD271064}"/>
              </a:ext>
            </a:extLst>
          </p:cNvPr>
          <p:cNvSpPr/>
          <p:nvPr/>
        </p:nvSpPr>
        <p:spPr>
          <a:xfrm>
            <a:off x="5367453" y="188084"/>
            <a:ext cx="2668859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8A5DD-2A70-7D07-F71E-7D495F5B4AC4}"/>
              </a:ext>
            </a:extLst>
          </p:cNvPr>
          <p:cNvSpPr txBox="1"/>
          <p:nvPr/>
        </p:nvSpPr>
        <p:spPr>
          <a:xfrm>
            <a:off x="4460488" y="138792"/>
            <a:ext cx="4683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Category-wise Sales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CB5A6F-D5C9-5195-946A-D9A477169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550" y="926748"/>
            <a:ext cx="3605562" cy="351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944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6">
            <a:extLst>
              <a:ext uri="{FF2B5EF4-FFF2-40B4-BE49-F238E27FC236}">
                <a16:creationId xmlns:a16="http://schemas.microsoft.com/office/drawing/2014/main" id="{484C801A-E268-D3F8-3655-626A0D9AB580}"/>
              </a:ext>
            </a:extLst>
          </p:cNvPr>
          <p:cNvSpPr/>
          <p:nvPr/>
        </p:nvSpPr>
        <p:spPr>
          <a:xfrm>
            <a:off x="341971" y="180649"/>
            <a:ext cx="2572214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4A4E77-36D0-C7B8-5425-006B5CC4302D}"/>
              </a:ext>
            </a:extLst>
          </p:cNvPr>
          <p:cNvSpPr txBox="1"/>
          <p:nvPr/>
        </p:nvSpPr>
        <p:spPr>
          <a:xfrm>
            <a:off x="-657922" y="13135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Region-wise Sales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BCA5D9-8E67-A8B1-57A8-954116726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8669"/>
            <a:ext cx="4300938" cy="3576687"/>
          </a:xfrm>
          <a:prstGeom prst="rect">
            <a:avLst/>
          </a:prstGeom>
        </p:spPr>
      </p:pic>
      <p:sp>
        <p:nvSpPr>
          <p:cNvPr id="12" name="Shape 32">
            <a:extLst>
              <a:ext uri="{FF2B5EF4-FFF2-40B4-BE49-F238E27FC236}">
                <a16:creationId xmlns:a16="http://schemas.microsoft.com/office/drawing/2014/main" id="{649216A6-2FB9-3931-4248-027B3B2EE1C2}"/>
              </a:ext>
            </a:extLst>
          </p:cNvPr>
          <p:cNvSpPr/>
          <p:nvPr/>
        </p:nvSpPr>
        <p:spPr>
          <a:xfrm>
            <a:off x="5229924" y="180649"/>
            <a:ext cx="2568496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0E3BFA-8308-68F2-08B7-0C7F9E625CCE}"/>
              </a:ext>
            </a:extLst>
          </p:cNvPr>
          <p:cNvSpPr txBox="1"/>
          <p:nvPr/>
        </p:nvSpPr>
        <p:spPr>
          <a:xfrm>
            <a:off x="3899211" y="145681"/>
            <a:ext cx="4902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Sales Distribution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B86F66C-D0A6-847E-654F-C7FC79C12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460" y="972338"/>
            <a:ext cx="3987423" cy="319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68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8">
            <a:extLst>
              <a:ext uri="{FF2B5EF4-FFF2-40B4-BE49-F238E27FC236}">
                <a16:creationId xmlns:a16="http://schemas.microsoft.com/office/drawing/2014/main" id="{C359999B-35B0-E931-E24F-6AFE06A66215}"/>
              </a:ext>
            </a:extLst>
          </p:cNvPr>
          <p:cNvSpPr/>
          <p:nvPr/>
        </p:nvSpPr>
        <p:spPr>
          <a:xfrm>
            <a:off x="237892" y="161692"/>
            <a:ext cx="2995962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16F1A-ED8F-B372-C068-804EC6938452}"/>
              </a:ext>
            </a:extLst>
          </p:cNvPr>
          <p:cNvSpPr txBox="1"/>
          <p:nvPr/>
        </p:nvSpPr>
        <p:spPr>
          <a:xfrm>
            <a:off x="-769434" y="13704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Profit vs Sales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F5442A-6636-AE16-67D2-20CDE4D45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78" y="860114"/>
            <a:ext cx="4980879" cy="388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069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78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2936488" y="-431180"/>
            <a:ext cx="5658871" cy="1345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Power BI Dashboard</a:t>
            </a:r>
            <a:endParaRPr lang="en-US" sz="28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D6D4893-B265-83F6-67AD-1B244BC44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49" y="527824"/>
            <a:ext cx="8192210" cy="458763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286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972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0058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🛒  Food &amp; Beverages categories generate the highest sales volume across all product segments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783080"/>
            <a:ext cx="850392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874520"/>
            <a:ext cx="475488" cy="475488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78308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🗺️  North &amp; South regions contribute the most revenue — together accounting for majority share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560320"/>
            <a:ext cx="850392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65176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56032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📅  Sales peak during festive months (October–December) driven by seasonal demand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3337560"/>
            <a:ext cx="850392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3429000"/>
            <a:ext cx="475488" cy="47548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429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33756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⭐  Top 5 customers contribute a significant share of total revenue — high loyalty value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4114800"/>
            <a:ext cx="850392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4206240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206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11480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💹  Overall profitability is healthy and consistent across all major product categories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Business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7899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2743200" cy="4572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0789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📍  Target Low-Performing Regions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" y="158191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Increase marketing and promotional spend in East &amp; West regions to capture untapped revenue potential and improve regional balance.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2112" y="107899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1078992"/>
            <a:ext cx="2743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10789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🏷️  Boost Top Category Sales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73552" y="158191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Promote high-performing Food &amp; Beverage categories with targeted discounts and bundle offers during high-traffic periods.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08192" y="107899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08192" y="1078992"/>
            <a:ext cx="27432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0789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🎁  Launch Customer Loyalty Program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99632" y="158191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Introduce a rewards program for top customers to improve retention, increase lifetime value, and encourage repeat purchases.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27632" y="304495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27632" y="3044952"/>
            <a:ext cx="274320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00784" y="30449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📦  Optimize Inventory for Peak Season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19072" y="354787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Increase stock levels and logistics capacity during October–December to meet festive season demand and minimize stockouts.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53712" y="3044952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53712" y="3044952"/>
            <a:ext cx="2743200" cy="4572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30449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📲  Deploy Real-Time Dashboards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45152" y="354787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Use interactive Power BI dashboards for live performance monitoring, enabling faster and more informed business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1A3260">
              <a:alpha val="70000"/>
            </a:srgbClr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2563A8">
              <a:alpha val="60000"/>
            </a:srgbClr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8229600" cy="749808"/>
          </a:xfrm>
          <a:prstGeom prst="rect">
            <a:avLst/>
          </a:prstGeom>
          <a:solidFill>
            <a:srgbClr val="1A3260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3444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09728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Successfully analyzed Supermart grocery sales data end-to-end using Excel, SQL, Python, and Power BI.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8229600" cy="749808"/>
          </a:xfrm>
          <a:prstGeom prst="rect">
            <a:avLst/>
          </a:prstGeom>
          <a:solidFill>
            <a:srgbClr val="1A3260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13055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30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1993392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Derived actionable insights on category performance, regional sales trends, and customer buying behavior.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8229600" cy="749808"/>
          </a:xfrm>
          <a:prstGeom prst="rect">
            <a:avLst/>
          </a:prstGeom>
          <a:solidFill>
            <a:srgbClr val="1A3260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26664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26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889504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Built an interactive Power BI dashboard enabling real-time monitoring and data-driven decision support.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85616"/>
            <a:ext cx="8229600" cy="749808"/>
          </a:xfrm>
          <a:prstGeom prst="rect">
            <a:avLst/>
          </a:prstGeom>
          <a:solidFill>
            <a:srgbClr val="1A3260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22776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22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785616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Demonstrated complete data analytics skills covering data cleaning, querying, EDA, and visualization.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28800" y="4617720"/>
            <a:ext cx="54864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46177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 End-to-End Data Analytics Project  |  Soham Sutar  |  March 2026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827</Words>
  <Application>Microsoft Office PowerPoint</Application>
  <PresentationFormat>On-screen Show (16:9)</PresentationFormat>
  <Paragraphs>156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Supermart Grocery Sales Analysis</dc:title>
  <dc:subject>PptxGenJS Presentation</dc:subject>
  <dc:creator>Soham Sutar</dc:creator>
  <cp:lastModifiedBy>Soham Sutar</cp:lastModifiedBy>
  <cp:revision>2</cp:revision>
  <dcterms:created xsi:type="dcterms:W3CDTF">2026-03-22T14:58:24Z</dcterms:created>
  <dcterms:modified xsi:type="dcterms:W3CDTF">2026-03-22T18:26:50Z</dcterms:modified>
</cp:coreProperties>
</file>